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30" r:id="rId1"/>
  </p:sldMasterIdLst>
  <p:notesMasterIdLst>
    <p:notesMasterId r:id="rId2"/>
  </p:notesMasterIdLst>
  <p:sldIdLst>
    <p:sldId id="256" r:id="rId3"/>
    <p:sldId id="257" r:id="rId4"/>
    <p:sldId id="263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7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presProps" Target="presProps.xml"  /><Relationship Id="rId15" Type="http://schemas.openxmlformats.org/officeDocument/2006/relationships/viewProps" Target="viewProps.xml"  /><Relationship Id="rId16" Type="http://schemas.openxmlformats.org/officeDocument/2006/relationships/theme" Target="theme/theme1.xml"  /><Relationship Id="rId17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2022-02-25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1.png"  /><Relationship Id="rId4" Type="http://schemas.openxmlformats.org/officeDocument/2006/relationships/image" Target="../media/image1.png"  /><Relationship Id="rId5" Type="http://schemas.openxmlformats.org/officeDocument/2006/relationships/image" Target="../media/image2.jpe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1.png"  /><Relationship Id="rId4" Type="http://schemas.openxmlformats.org/officeDocument/2006/relationships/image" Target="../media/image1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s://github.com/opencv/opencv/tree/master/data/haarcascade" TargetMode="External"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5500"/>
              <a:t>CP1 :</a:t>
            </a:r>
            <a:r>
              <a:rPr lang="ko-KR" altLang="en-US" sz="5500"/>
              <a:t> 사람의 얼굴과 마스크 감지</a:t>
            </a:r>
            <a:endParaRPr lang="ko-KR" altLang="en-US" sz="550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schemeClr val="tx1"/>
                </a:solidFill>
              </a:rPr>
              <a:t>AI 08 </a:t>
            </a:r>
            <a:r>
              <a:rPr lang="ko-KR" altLang="en-US">
                <a:solidFill>
                  <a:schemeClr val="tx1"/>
                </a:solidFill>
              </a:rPr>
              <a:t>박해성</a:t>
            </a:r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데이터 선정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3400">
                <a:effectLst/>
              </a:rPr>
              <a:t>1.</a:t>
            </a:r>
            <a:r>
              <a:rPr lang="ko-KR" altLang="en-US" sz="3400">
                <a:effectLst/>
              </a:rPr>
              <a:t> 익숙한 데이터</a:t>
            </a:r>
            <a:endParaRPr lang="ko-KR" altLang="en-US" sz="3400">
              <a:effectLst/>
            </a:endParaRPr>
          </a:p>
          <a:p>
            <a:pPr marL="0" lvl="0" indent="0">
              <a:buNone/>
              <a:defRPr/>
            </a:pPr>
            <a:r>
              <a:rPr lang="en-US" altLang="ko-KR" sz="3400"/>
              <a:t>2.</a:t>
            </a:r>
            <a:r>
              <a:rPr lang="ko-KR" altLang="en-US" sz="3400"/>
              <a:t> </a:t>
            </a:r>
            <a:r>
              <a:rPr lang="ko-KR" altLang="en-US" sz="3400">
                <a:effectLst/>
              </a:rPr>
              <a:t>실용 가능성</a:t>
            </a:r>
            <a:endParaRPr lang="ko-KR" altLang="en-US" sz="3400">
              <a:effectLst/>
            </a:endParaRPr>
          </a:p>
          <a:p>
            <a:pPr marL="0" lvl="0" indent="0">
              <a:buNone/>
              <a:defRPr/>
            </a:pPr>
            <a:endParaRPr lang="ko-KR" altLang="en-US" sz="2800"/>
          </a:p>
          <a:p>
            <a:pPr>
              <a:defRPr/>
            </a:pPr>
            <a:endParaRPr lang="en-US" altLang="ko-KR" sz="2800"/>
          </a:p>
          <a:p>
            <a:pPr>
              <a:defRPr/>
            </a:pPr>
            <a:endParaRPr lang="en-US" altLang="ko-KR" sz="2800"/>
          </a:p>
          <a:p>
            <a:pPr>
              <a:defRPr/>
            </a:pPr>
            <a:endParaRPr lang="en-US" altLang="ko-KR" sz="2800"/>
          </a:p>
          <a:p>
            <a:pPr>
              <a:defRPr/>
            </a:pPr>
            <a:endParaRPr lang="en-US" altLang="ko-KR" sz="2800"/>
          </a:p>
          <a:p>
            <a:pPr>
              <a:defRPr/>
            </a:pPr>
            <a:endParaRPr lang="en-US" altLang="ko-KR" sz="2400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48400" y="3581400"/>
            <a:ext cx="0" cy="0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400800" y="3733800"/>
            <a:ext cx="0" cy="0"/>
          </a:xfrm>
          <a:prstGeom prst="rect">
            <a:avLst/>
          </a:prstGeom>
        </p:spPr>
      </p:pic>
      <p:pic>
        <p:nvPicPr>
          <p:cNvPr id="8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787423" y="1486116"/>
            <a:ext cx="3885767" cy="38857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데이터 선정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3350" y="1600200"/>
            <a:ext cx="11849532" cy="5002213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  <a:defRPr/>
            </a:pPr>
            <a:endParaRPr lang="ko-KR" altLang="en-US" sz="2800"/>
          </a:p>
          <a:p>
            <a:pPr>
              <a:defRPr/>
            </a:pPr>
            <a:endParaRPr lang="en-US" altLang="ko-KR" sz="2800"/>
          </a:p>
          <a:p>
            <a:pPr>
              <a:defRPr/>
            </a:pPr>
            <a:endParaRPr lang="en-US" altLang="ko-KR" sz="2800"/>
          </a:p>
          <a:p>
            <a:pPr>
              <a:defRPr/>
            </a:pPr>
            <a:endParaRPr lang="en-US" altLang="ko-KR" sz="2800"/>
          </a:p>
          <a:p>
            <a:pPr>
              <a:defRPr/>
            </a:pPr>
            <a:endParaRPr lang="en-US" altLang="ko-KR" sz="2800"/>
          </a:p>
          <a:p>
            <a:pPr>
              <a:defRPr/>
            </a:pPr>
            <a:endParaRPr lang="en-US" altLang="ko-KR" sz="2800"/>
          </a:p>
          <a:p>
            <a:pPr>
              <a:defRPr/>
            </a:pPr>
            <a:endParaRPr lang="en-US" altLang="ko-KR" sz="2800"/>
          </a:p>
          <a:p>
            <a:pPr>
              <a:defRPr/>
            </a:pPr>
            <a:endParaRPr lang="en-US" altLang="ko-KR" sz="2800"/>
          </a:p>
          <a:p>
            <a:pPr>
              <a:defRPr/>
            </a:pPr>
            <a:endParaRPr lang="en-US" altLang="ko-KR" sz="2800"/>
          </a:p>
          <a:p>
            <a:pPr marL="0" indent="0">
              <a:buNone/>
              <a:defRPr/>
            </a:pPr>
            <a:r>
              <a:rPr lang="ko-KR" altLang="en-US" sz="2800"/>
              <a:t>			</a:t>
            </a:r>
            <a:r>
              <a:rPr lang="en-US" altLang="ko-KR" sz="2800"/>
              <a:t>686</a:t>
            </a:r>
            <a:r>
              <a:rPr lang="ko-KR" altLang="en-US" sz="2800"/>
              <a:t>장						</a:t>
            </a:r>
            <a:r>
              <a:rPr lang="en-US" altLang="ko-KR" sz="2800"/>
              <a:t>690</a:t>
            </a:r>
            <a:r>
              <a:rPr lang="ko-KR" altLang="en-US" sz="2800"/>
              <a:t>장</a:t>
            </a:r>
            <a:endParaRPr lang="ko-KR" altLang="en-US" sz="2800"/>
          </a:p>
          <a:p>
            <a:pPr>
              <a:defRPr/>
            </a:pPr>
            <a:r>
              <a:rPr lang="en-US" altLang="ko-KR" sz="2400"/>
              <a:t>https://www.kaggle.com/ahemateja19bec1025/facemask-dataset</a:t>
            </a:r>
            <a:endParaRPr lang="en-US" altLang="ko-KR" sz="2400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48400" y="3581400"/>
            <a:ext cx="0" cy="0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400800" y="3733800"/>
            <a:ext cx="0" cy="0"/>
          </a:xfrm>
          <a:prstGeom prst="rect">
            <a:avLst/>
          </a:prstGeom>
        </p:spPr>
      </p:pic>
      <p:pic>
        <p:nvPicPr>
          <p:cNvPr id="10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9599" y="1367790"/>
            <a:ext cx="5204460" cy="4122420"/>
          </a:xfrm>
          <a:prstGeom prst="rect">
            <a:avLst/>
          </a:prstGeom>
        </p:spPr>
      </p:pic>
      <p:pic>
        <p:nvPicPr>
          <p:cNvPr id="13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096000" y="1363980"/>
            <a:ext cx="5265420" cy="4130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모델 선정</a:t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660711"/>
            <a:ext cx="6206407" cy="3536576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6000" y="1660711"/>
            <a:ext cx="6209644" cy="3536576"/>
          </a:xfrm>
          <a:prstGeom prst="rect">
            <a:avLst/>
          </a:prstGeom>
        </p:spPr>
      </p:pic>
      <p:sp>
        <p:nvSpPr>
          <p:cNvPr id="6" name=""/>
          <p:cNvSpPr txBox="1"/>
          <p:nvPr/>
        </p:nvSpPr>
        <p:spPr>
          <a:xfrm>
            <a:off x="3860439" y="5643647"/>
            <a:ext cx="4471122" cy="424037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en-US" sz="2200"/>
              <a:t>https://ai-benchmark.com/tests.html</a:t>
            </a:r>
            <a:endParaRPr lang="en-US" altLang="en-US"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데이터 정규화</a:t>
            </a:r>
            <a:r>
              <a:rPr lang="en-US" altLang="ko-KR"/>
              <a:t>,</a:t>
            </a:r>
            <a:r>
              <a:rPr lang="ko-KR" altLang="en-US"/>
              <a:t> 증강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ko-KR" altLang="en-US"/>
              <a:t>사진 크기 </a:t>
            </a:r>
            <a:r>
              <a:rPr lang="en-US" altLang="ko-KR"/>
              <a:t>224x224</a:t>
            </a:r>
            <a:endParaRPr lang="en-US" altLang="ko-KR"/>
          </a:p>
          <a:p>
            <a:pPr>
              <a:defRPr/>
            </a:pPr>
            <a:r>
              <a:rPr lang="ko-KR" altLang="en-US"/>
              <a:t>전체 픽셀값 정규화</a:t>
            </a:r>
            <a:endParaRPr lang="ko-KR" altLang="en-US"/>
          </a:p>
          <a:p>
            <a:pPr>
              <a:defRPr/>
            </a:pP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20</a:t>
            </a:r>
            <a:r>
              <a:rPr lang="ko-KR" altLang="en-US"/>
              <a:t>도 회전</a:t>
            </a:r>
            <a:endParaRPr lang="ko-KR" altLang="en-US"/>
          </a:p>
          <a:p>
            <a:pPr>
              <a:defRPr/>
            </a:pPr>
            <a:r>
              <a:rPr lang="en-US" altLang="ko-KR"/>
              <a:t>0.85 ~ 1.15</a:t>
            </a:r>
            <a:r>
              <a:rPr lang="ko-KR" altLang="en-US"/>
              <a:t>배 확대</a:t>
            </a:r>
            <a:r>
              <a:rPr lang="en-US" altLang="ko-KR"/>
              <a:t>/</a:t>
            </a:r>
            <a:r>
              <a:rPr lang="ko-KR" altLang="en-US"/>
              <a:t>축소</a:t>
            </a:r>
            <a:endParaRPr lang="ko-KR" altLang="en-US"/>
          </a:p>
          <a:p>
            <a:pPr>
              <a:defRPr/>
            </a:pPr>
            <a:r>
              <a:rPr lang="ko-KR" altLang="en-US"/>
              <a:t>수직</a:t>
            </a:r>
            <a:r>
              <a:rPr lang="en-US" altLang="ko-KR"/>
              <a:t>,</a:t>
            </a:r>
            <a:r>
              <a:rPr lang="ko-KR" altLang="en-US"/>
              <a:t> 수평 방향 </a:t>
            </a:r>
            <a:r>
              <a:rPr lang="en-US" altLang="ko-KR"/>
              <a:t>20%</a:t>
            </a:r>
            <a:r>
              <a:rPr lang="ko-KR" altLang="en-US"/>
              <a:t> 이동</a:t>
            </a:r>
            <a:endParaRPr lang="ko-KR" altLang="en-US"/>
          </a:p>
          <a:p>
            <a:pPr>
              <a:defRPr/>
            </a:pPr>
            <a:r>
              <a:rPr lang="ko-KR" altLang="en-US"/>
              <a:t>층밀리기 강도 </a:t>
            </a:r>
            <a:r>
              <a:rPr lang="en-US" altLang="ko-KR"/>
              <a:t>0.15</a:t>
            </a:r>
            <a:r>
              <a:rPr lang="ko-KR" altLang="en-US"/>
              <a:t> 라디안</a:t>
            </a:r>
            <a:r>
              <a:rPr lang="en-US" altLang="ko-KR"/>
              <a:t>(8.59</a:t>
            </a:r>
            <a:r>
              <a:rPr lang="ko-KR" altLang="en-US"/>
              <a:t>도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수평방향 뒤집기</a:t>
            </a:r>
            <a:endParaRPr lang="ko-KR" altLang="en-US"/>
          </a:p>
          <a:p>
            <a:pPr>
              <a:defRPr/>
            </a:pP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936763" y="3429000"/>
            <a:ext cx="3645633" cy="2856812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936763" y="1600200"/>
            <a:ext cx="3645634" cy="944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Model Pipeline</a:t>
            </a:r>
            <a:endParaRPr lang="en-US" altLang="ko-KR"/>
          </a:p>
        </p:txBody>
      </p:sp>
      <p:sp>
        <p:nvSpPr>
          <p:cNvPr id="5" name=""/>
          <p:cNvSpPr/>
          <p:nvPr/>
        </p:nvSpPr>
        <p:spPr>
          <a:xfrm>
            <a:off x="1076054" y="2966172"/>
            <a:ext cx="1454511" cy="93085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input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6" name=""/>
          <p:cNvSpPr/>
          <p:nvPr/>
        </p:nvSpPr>
        <p:spPr>
          <a:xfrm>
            <a:off x="3208355" y="2622622"/>
            <a:ext cx="2147239" cy="161275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Backbone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MobileNetV2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7" name=""/>
          <p:cNvSpPr/>
          <p:nvPr/>
        </p:nvSpPr>
        <p:spPr>
          <a:xfrm>
            <a:off x="6096000" y="2430607"/>
            <a:ext cx="932909" cy="2034886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Max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Pooling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8" name=""/>
          <p:cNvSpPr/>
          <p:nvPr/>
        </p:nvSpPr>
        <p:spPr>
          <a:xfrm>
            <a:off x="7819319" y="2430607"/>
            <a:ext cx="932909" cy="2034886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Relu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9" name=""/>
          <p:cNvSpPr/>
          <p:nvPr/>
        </p:nvSpPr>
        <p:spPr>
          <a:xfrm>
            <a:off x="9529489" y="2430607"/>
            <a:ext cx="932909" cy="2034886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softmax</a:t>
            </a:r>
            <a:endParaRPr lang="en-US" altLang="ko-KR">
              <a:solidFill>
                <a:schemeClr val="tx1"/>
              </a:solidFill>
            </a:endParaRPr>
          </a:p>
        </p:txBody>
      </p:sp>
      <p:cxnSp>
        <p:nvCxnSpPr>
          <p:cNvPr id="10" name=""/>
          <p:cNvCxnSpPr>
            <a:stCxn id="5" idx="3"/>
            <a:endCxn id="6" idx="1"/>
          </p:cNvCxnSpPr>
          <p:nvPr/>
        </p:nvCxnSpPr>
        <p:spPr>
          <a:xfrm flipV="1">
            <a:off x="2530566" y="3429000"/>
            <a:ext cx="677789" cy="2598"/>
          </a:xfrm>
          <a:prstGeom prst="straightConnector1">
            <a:avLst/>
          </a:prstGeom>
          <a:ln w="38100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"/>
          <p:cNvCxnSpPr>
            <a:endCxn id="7" idx="1"/>
          </p:cNvCxnSpPr>
          <p:nvPr/>
        </p:nvCxnSpPr>
        <p:spPr>
          <a:xfrm flipV="1">
            <a:off x="5418211" y="3448050"/>
            <a:ext cx="677789" cy="2598"/>
          </a:xfrm>
          <a:prstGeom prst="straightConnector1">
            <a:avLst/>
          </a:prstGeom>
          <a:ln w="38100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"/>
          <p:cNvCxnSpPr>
            <a:stCxn id="7" idx="3"/>
            <a:endCxn id="8" idx="1"/>
          </p:cNvCxnSpPr>
          <p:nvPr/>
        </p:nvCxnSpPr>
        <p:spPr>
          <a:xfrm>
            <a:off x="7028909" y="3448050"/>
            <a:ext cx="790409" cy="0"/>
          </a:xfrm>
          <a:prstGeom prst="straightConnector1">
            <a:avLst/>
          </a:prstGeom>
          <a:ln w="38100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"/>
          <p:cNvCxnSpPr>
            <a:endCxn id="9" idx="1"/>
          </p:cNvCxnSpPr>
          <p:nvPr/>
        </p:nvCxnSpPr>
        <p:spPr>
          <a:xfrm>
            <a:off x="8752229" y="3448050"/>
            <a:ext cx="777260" cy="0"/>
          </a:xfrm>
          <a:prstGeom prst="straightConnector1">
            <a:avLst/>
          </a:prstGeom>
          <a:ln w="38100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"/>
          <p:cNvCxnSpPr/>
          <p:nvPr/>
        </p:nvCxnSpPr>
        <p:spPr>
          <a:xfrm>
            <a:off x="10462399" y="3429000"/>
            <a:ext cx="777260" cy="0"/>
          </a:xfrm>
          <a:prstGeom prst="straightConnector1">
            <a:avLst/>
          </a:prstGeom>
          <a:ln w="38100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Model Pipeline</a:t>
            </a:r>
            <a:endParaRPr lang="en-US" altLang="ko-KR"/>
          </a:p>
        </p:txBody>
      </p:sp>
      <p:pic>
        <p:nvPicPr>
          <p:cNvPr id="1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773879" y="1523560"/>
            <a:ext cx="5808517" cy="3810879"/>
          </a:xfrm>
          <a:prstGeom prst="rect">
            <a:avLst/>
          </a:prstGeom>
        </p:spPr>
      </p:pic>
      <p:pic>
        <p:nvPicPr>
          <p:cNvPr id="1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73879" y="1523560"/>
            <a:ext cx="5808518" cy="3817805"/>
          </a:xfrm>
          <a:prstGeom prst="rect">
            <a:avLst/>
          </a:prstGeom>
        </p:spPr>
      </p:pic>
      <p:pic>
        <p:nvPicPr>
          <p:cNvPr id="19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20546" y="2478924"/>
            <a:ext cx="5043610" cy="19001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900"/>
              <a:t>데이터 부족</a:t>
            </a:r>
            <a:endParaRPr lang="ko-KR" altLang="en-US" sz="2900"/>
          </a:p>
          <a:p>
            <a:pPr>
              <a:defRPr/>
            </a:pPr>
            <a:r>
              <a:rPr lang="ko-KR" altLang="en-US" sz="2900"/>
              <a:t>마스크를 탐지하는 것이 아닌 마스크를 안</a:t>
            </a:r>
            <a:r>
              <a:rPr lang="en-US" altLang="ko-KR" sz="2900"/>
              <a:t> </a:t>
            </a:r>
            <a:r>
              <a:rPr lang="ko-KR" altLang="en-US" sz="2900"/>
              <a:t>쓴 사람을 탐지하도록</a:t>
            </a:r>
            <a:endParaRPr lang="ko-KR" altLang="en-US" sz="2900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3353578"/>
            <a:ext cx="2696772" cy="2772585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306371" y="3346282"/>
            <a:ext cx="2659964" cy="2779880"/>
          </a:xfrm>
          <a:prstGeom prst="rect">
            <a:avLst/>
          </a:prstGeom>
        </p:spPr>
      </p:pic>
      <p:sp>
        <p:nvSpPr>
          <p:cNvPr id="8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 vert="horz" lIns="91440" tIns="45720" rIns="91440" bIns="45720" anchor="ctr">
            <a:normAutofit/>
          </a:bodyPr>
          <a:lstStyle/>
          <a:p>
            <a:pPr>
              <a:defRPr/>
            </a:pPr>
            <a:r>
              <a:rPr lang="ko-KR" altLang="en-US"/>
              <a:t>기존 프로젝트의 한계점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900"/>
              <a:t>grayscale</a:t>
            </a:r>
            <a:r>
              <a:rPr lang="ko-KR" altLang="en-US" sz="2900"/>
              <a:t>로 변경된 이미지에서 특징 추출 가능</a:t>
            </a:r>
            <a:r>
              <a:rPr lang="en-US" altLang="ko-KR" sz="2900"/>
              <a:t>(</a:t>
            </a:r>
            <a:r>
              <a:rPr lang="ko-KR" altLang="en-US" sz="2900"/>
              <a:t>눈</a:t>
            </a:r>
            <a:r>
              <a:rPr lang="en-US" altLang="ko-KR" sz="2900"/>
              <a:t>,</a:t>
            </a:r>
            <a:r>
              <a:rPr lang="ko-KR" altLang="en-US" sz="2900"/>
              <a:t> 정면 얼굴 등</a:t>
            </a:r>
            <a:r>
              <a:rPr lang="en-US" altLang="ko-KR" sz="2900"/>
              <a:t>) </a:t>
            </a:r>
            <a:endParaRPr lang="en-US" altLang="ko-KR" sz="2900"/>
          </a:p>
          <a:p>
            <a:pPr>
              <a:defRPr/>
            </a:pPr>
            <a:r>
              <a:rPr lang="en-US" altLang="ko-KR" sz="2900"/>
              <a:t>opencv git</a:t>
            </a:r>
            <a:r>
              <a:rPr lang="ko-KR" altLang="en-US" sz="2900"/>
              <a:t>에서 사전학습 된 </a:t>
            </a:r>
            <a:r>
              <a:rPr lang="en-US" altLang="ko-KR" sz="2900"/>
              <a:t>xml </a:t>
            </a:r>
            <a:r>
              <a:rPr lang="ko-KR" altLang="en-US" sz="2900"/>
              <a:t>다운</a:t>
            </a:r>
            <a:r>
              <a:rPr lang="en-US" altLang="ko-KR" sz="2900"/>
              <a:t>(</a:t>
            </a:r>
            <a:r>
              <a:rPr lang="en-US" altLang="ko-KR" sz="2900">
                <a:hlinkClick r:id="rId2"/>
              </a:rPr>
              <a:t>https://github.com/opencv/opencv/tree/master/data/haarcascade</a:t>
            </a:r>
            <a:r>
              <a:rPr lang="en-US" altLang="ko-KR" sz="2900"/>
              <a:t>)</a:t>
            </a:r>
            <a:endParaRPr lang="en-US" altLang="ko-KR" sz="2900"/>
          </a:p>
          <a:p>
            <a:pPr>
              <a:defRPr/>
            </a:pPr>
            <a:endParaRPr lang="en-US" altLang="ko-KR" sz="2900"/>
          </a:p>
          <a:p>
            <a:pPr>
              <a:defRPr/>
            </a:pPr>
            <a:endParaRPr lang="en-US" altLang="ko-KR" sz="2900"/>
          </a:p>
        </p:txBody>
      </p:sp>
      <p:sp>
        <p:nvSpPr>
          <p:cNvPr id="8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 vert="horz" lIns="91440" tIns="45720" rIns="91440" bIns="45720" anchor="ctr">
            <a:normAutofit/>
          </a:bodyPr>
          <a:lstStyle/>
          <a:p>
            <a:pPr>
              <a:defRPr/>
            </a:pPr>
            <a:r>
              <a:rPr lang="ko-KR" altLang="en-US"/>
              <a:t>하르 특징 분류기</a:t>
            </a:r>
            <a:r>
              <a:rPr lang="en-US" altLang="ko-KR"/>
              <a:t>(Haar Cascade Classifier)</a:t>
            </a:r>
            <a:endParaRPr lang="en-US" altLang="ko-KR"/>
          </a:p>
        </p:txBody>
      </p:sp>
      <p:pic>
        <p:nvPicPr>
          <p:cNvPr id="20" name=""/>
          <p:cNvPicPr>
            <a:picLocks noChangeAspect="1"/>
          </p:cNvPicPr>
          <p:nvPr/>
        </p:nvPicPr>
        <p:blipFill rotWithShape="1">
          <a:blip r:embed="rId3"/>
          <a:srcRect l="4010" t="4060" r="61920" b="56470"/>
          <a:stretch>
            <a:fillRect/>
          </a:stretch>
        </p:blipFill>
        <p:spPr>
          <a:xfrm>
            <a:off x="2503775" y="3429000"/>
            <a:ext cx="2667658" cy="2669644"/>
          </a:xfrm>
          <a:prstGeom prst="rect">
            <a:avLst/>
          </a:prstGeom>
        </p:spPr>
      </p:pic>
      <p:pic>
        <p:nvPicPr>
          <p:cNvPr id="24" name=""/>
          <p:cNvPicPr>
            <a:picLocks noChangeAspect="1"/>
          </p:cNvPicPr>
          <p:nvPr/>
        </p:nvPicPr>
        <p:blipFill rotWithShape="1">
          <a:blip r:embed="rId4"/>
          <a:srcRect l="2540" t="57550" r="69050" b="1650"/>
          <a:stretch>
            <a:fillRect/>
          </a:stretch>
        </p:blipFill>
        <p:spPr>
          <a:xfrm>
            <a:off x="6896745" y="3429000"/>
            <a:ext cx="2663112" cy="2669644"/>
          </a:xfrm>
          <a:prstGeom prst="rect">
            <a:avLst/>
          </a:prstGeom>
        </p:spPr>
      </p:pic>
      <p:cxnSp>
        <p:nvCxnSpPr>
          <p:cNvPr id="26" name=""/>
          <p:cNvCxnSpPr/>
          <p:nvPr/>
        </p:nvCxnSpPr>
        <p:spPr>
          <a:xfrm flipV="1">
            <a:off x="5757105" y="4761224"/>
            <a:ext cx="677789" cy="2598"/>
          </a:xfrm>
          <a:prstGeom prst="straightConnector1">
            <a:avLst/>
          </a:prstGeom>
          <a:ln w="38100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Model Pipeline</a:t>
            </a:r>
            <a:endParaRPr lang="en-US" altLang="ko-KR"/>
          </a:p>
        </p:txBody>
      </p:sp>
      <p:sp>
        <p:nvSpPr>
          <p:cNvPr id="5" name=""/>
          <p:cNvSpPr/>
          <p:nvPr/>
        </p:nvSpPr>
        <p:spPr>
          <a:xfrm>
            <a:off x="154997" y="2498148"/>
            <a:ext cx="1454511" cy="93085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input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6" name=""/>
          <p:cNvSpPr/>
          <p:nvPr/>
        </p:nvSpPr>
        <p:spPr>
          <a:xfrm>
            <a:off x="4160696" y="2157196"/>
            <a:ext cx="2147239" cy="161275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Backbone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MobileNetV2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7" name=""/>
          <p:cNvSpPr/>
          <p:nvPr/>
        </p:nvSpPr>
        <p:spPr>
          <a:xfrm>
            <a:off x="7048341" y="1965181"/>
            <a:ext cx="932909" cy="2034886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Max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Pooling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8" name=""/>
          <p:cNvSpPr/>
          <p:nvPr/>
        </p:nvSpPr>
        <p:spPr>
          <a:xfrm>
            <a:off x="8771660" y="1965181"/>
            <a:ext cx="932909" cy="2034886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Relu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9" name=""/>
          <p:cNvSpPr/>
          <p:nvPr/>
        </p:nvSpPr>
        <p:spPr>
          <a:xfrm>
            <a:off x="10481830" y="1965181"/>
            <a:ext cx="932909" cy="2034886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softmax</a:t>
            </a:r>
            <a:endParaRPr lang="en-US" altLang="ko-KR">
              <a:solidFill>
                <a:schemeClr val="tx1"/>
              </a:solidFill>
            </a:endParaRPr>
          </a:p>
        </p:txBody>
      </p:sp>
      <p:cxnSp>
        <p:nvCxnSpPr>
          <p:cNvPr id="10" name=""/>
          <p:cNvCxnSpPr>
            <a:stCxn id="5" idx="3"/>
            <a:endCxn id="17" idx="1"/>
          </p:cNvCxnSpPr>
          <p:nvPr/>
        </p:nvCxnSpPr>
        <p:spPr>
          <a:xfrm>
            <a:off x="1609508" y="2963574"/>
            <a:ext cx="548338" cy="0"/>
          </a:xfrm>
          <a:prstGeom prst="straightConnector1">
            <a:avLst/>
          </a:prstGeom>
          <a:ln w="38100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"/>
          <p:cNvCxnSpPr>
            <a:endCxn id="7" idx="1"/>
          </p:cNvCxnSpPr>
          <p:nvPr/>
        </p:nvCxnSpPr>
        <p:spPr>
          <a:xfrm flipV="1">
            <a:off x="6370552" y="2982624"/>
            <a:ext cx="677789" cy="2598"/>
          </a:xfrm>
          <a:prstGeom prst="straightConnector1">
            <a:avLst/>
          </a:prstGeom>
          <a:ln w="38100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"/>
          <p:cNvCxnSpPr>
            <a:stCxn id="7" idx="3"/>
            <a:endCxn id="8" idx="1"/>
          </p:cNvCxnSpPr>
          <p:nvPr/>
        </p:nvCxnSpPr>
        <p:spPr>
          <a:xfrm>
            <a:off x="7981250" y="2982624"/>
            <a:ext cx="790409" cy="0"/>
          </a:xfrm>
          <a:prstGeom prst="straightConnector1">
            <a:avLst/>
          </a:prstGeom>
          <a:ln w="38100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"/>
          <p:cNvCxnSpPr>
            <a:endCxn id="9" idx="1"/>
          </p:cNvCxnSpPr>
          <p:nvPr/>
        </p:nvCxnSpPr>
        <p:spPr>
          <a:xfrm>
            <a:off x="9704570" y="2982624"/>
            <a:ext cx="777260" cy="0"/>
          </a:xfrm>
          <a:prstGeom prst="straightConnector1">
            <a:avLst/>
          </a:prstGeom>
          <a:ln w="38100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"/>
          <p:cNvCxnSpPr/>
          <p:nvPr/>
        </p:nvCxnSpPr>
        <p:spPr>
          <a:xfrm>
            <a:off x="11414740" y="2963574"/>
            <a:ext cx="777260" cy="0"/>
          </a:xfrm>
          <a:prstGeom prst="straightConnector1">
            <a:avLst/>
          </a:prstGeom>
          <a:ln w="38100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"/>
          <p:cNvSpPr/>
          <p:nvPr/>
        </p:nvSpPr>
        <p:spPr>
          <a:xfrm>
            <a:off x="2157846" y="2498148"/>
            <a:ext cx="1454511" cy="93085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Haar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Cascade</a:t>
            </a:r>
            <a:endParaRPr lang="en-US" altLang="ko-KR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Classfier</a:t>
            </a:r>
            <a:endParaRPr lang="en-US" altLang="ko-KR">
              <a:solidFill>
                <a:schemeClr val="tx1"/>
              </a:solidFill>
            </a:endParaRPr>
          </a:p>
        </p:txBody>
      </p:sp>
      <p:cxnSp>
        <p:nvCxnSpPr>
          <p:cNvPr id="18" name=""/>
          <p:cNvCxnSpPr/>
          <p:nvPr/>
        </p:nvCxnSpPr>
        <p:spPr>
          <a:xfrm>
            <a:off x="3612358" y="2985222"/>
            <a:ext cx="548338" cy="0"/>
          </a:xfrm>
          <a:prstGeom prst="straightConnector1">
            <a:avLst/>
          </a:prstGeom>
          <a:ln w="38100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"/>
          <p:cNvCxnSpPr/>
          <p:nvPr/>
        </p:nvCxnSpPr>
        <p:spPr>
          <a:xfrm>
            <a:off x="3886529" y="5250007"/>
            <a:ext cx="8305471" cy="0"/>
          </a:xfrm>
          <a:prstGeom prst="straightConnector1">
            <a:avLst/>
          </a:prstGeom>
          <a:ln w="38100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"/>
          <p:cNvCxnSpPr/>
          <p:nvPr/>
        </p:nvCxnSpPr>
        <p:spPr>
          <a:xfrm rot="16200000" flipH="1" flipV="1">
            <a:off x="2733785" y="4116314"/>
            <a:ext cx="2305484" cy="0"/>
          </a:xfrm>
          <a:prstGeom prst="straightConnector1">
            <a:avLst/>
          </a:prstGeom>
          <a:ln w="38100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"/>
          <p:cNvSpPr txBox="1"/>
          <p:nvPr/>
        </p:nvSpPr>
        <p:spPr>
          <a:xfrm>
            <a:off x="3612358" y="2708475"/>
            <a:ext cx="565307" cy="26142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1100" b="1">
                <a:latin typeface="굴림"/>
                <a:ea typeface="굴림"/>
              </a:rPr>
              <a:t>탐지</a:t>
            </a:r>
            <a:r>
              <a:rPr lang="en-US" altLang="ko-KR" sz="1100" b="1">
                <a:latin typeface="굴림"/>
                <a:ea typeface="굴림"/>
              </a:rPr>
              <a:t>o</a:t>
            </a:r>
            <a:endParaRPr lang="en-US" altLang="ko-KR" sz="1100" b="1">
              <a:latin typeface="굴림"/>
              <a:ea typeface="굴림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331927" y="3872518"/>
            <a:ext cx="554599" cy="255098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1100" b="1">
                <a:latin typeface="굴림"/>
                <a:ea typeface="굴림"/>
              </a:rPr>
              <a:t>탐지</a:t>
            </a:r>
            <a:r>
              <a:rPr lang="en-US" altLang="ko-KR" sz="1100" b="1">
                <a:latin typeface="굴림"/>
                <a:ea typeface="굴림"/>
              </a:rPr>
              <a:t>x</a:t>
            </a:r>
            <a:endParaRPr lang="en-US" altLang="ko-KR" sz="1100" b="1">
              <a:latin typeface="굴림"/>
              <a:ea typeface="굴림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1358792" y="2702153"/>
            <a:ext cx="953223" cy="26142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1100" b="1">
                <a:latin typeface="굴림"/>
                <a:ea typeface="굴림"/>
              </a:rPr>
              <a:t>마스크 유무</a:t>
            </a:r>
            <a:endParaRPr lang="ko-KR" altLang="en-US" sz="1100" b="1">
              <a:latin typeface="굴림"/>
              <a:ea typeface="굴림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1526071" y="4994909"/>
            <a:ext cx="554599" cy="255098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1100" b="1">
                <a:latin typeface="굴림"/>
                <a:ea typeface="굴림"/>
              </a:rPr>
              <a:t>탐지</a:t>
            </a:r>
            <a:r>
              <a:rPr lang="en-US" altLang="ko-KR" sz="1100" b="1">
                <a:latin typeface="굴림"/>
                <a:ea typeface="굴림"/>
              </a:rPr>
              <a:t>x</a:t>
            </a:r>
            <a:endParaRPr lang="en-US" altLang="ko-KR" sz="1100" b="1">
              <a:latin typeface="굴림"/>
              <a:ea typeface="굴림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한계점 및 해결 방안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여러 사람이 있을 때 인식 문제</a:t>
            </a:r>
            <a:endParaRPr lang="ko-KR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3201579"/>
            <a:ext cx="2781688" cy="2924583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76799" y="3201579"/>
            <a:ext cx="2772161" cy="28769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109</ep:Words>
  <ep:PresentationFormat>화면 슬라이드 쇼(4:3)</ep:PresentationFormat>
  <ep:Paragraphs>50</ep:Paragraphs>
  <ep:Slides>11</ep:Slides>
  <ep:Notes>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한컴오피스</vt:lpstr>
      <vt:lpstr>CP1 : 사람의 얼굴과 마스크 감지</vt:lpstr>
      <vt:lpstr>데이터 선정</vt:lpstr>
      <vt:lpstr>데이터 선정</vt:lpstr>
      <vt:lpstr>모델 선정</vt:lpstr>
      <vt:lpstr>데이터 정규화, 증강</vt:lpstr>
      <vt:lpstr>Model Pipeline</vt:lpstr>
      <vt:lpstr>Model Pipeline</vt:lpstr>
      <vt:lpstr>기존 프로젝트의 한계점</vt:lpstr>
      <vt:lpstr>하르 특징 분류기(Haar Cascade Classifier)</vt:lpstr>
      <vt:lpstr>Model Pipeline</vt:lpstr>
      <vt:lpstr>한계점 및 해결 방안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2022-01-12T00:50:34.102</dcterms:created>
  <dc:creator>parkhae</dc:creator>
  <cp:lastModifiedBy>parkhae</cp:lastModifiedBy>
  <dcterms:modified xsi:type="dcterms:W3CDTF">2022-02-25T08:57:11.637</dcterms:modified>
  <cp:revision>40</cp:revision>
  <dc:title>Section5 Project</dc:title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